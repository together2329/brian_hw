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79E8A"/>
                </a:solidFill>
                <a:latin typeface="Calibri"/>
              </a:rPr>
              <a:t>AI 반도체 IP 설계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402336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요구사항 입력 → AI 에이전트가 명세·RTL 자동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3716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1">
                <a:solidFill>
                  <a:srgbClr val="5B6372"/>
                </a:solidFill>
                <a:latin typeface="Calibri"/>
              </a:rPr>
              <a:t>■ AGENT = AI가 실행   ▢ OUTPUT = 산출물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107" y="2148840"/>
            <a:ext cx="2331720" cy="2148840"/>
          </a:xfrm>
          <a:prstGeom prst="rect">
            <a:avLst/>
          </a:prstGeom>
          <a:solidFill>
            <a:srgbClr val="F1F4F9"/>
          </a:solidFill>
          <a:ln w="22225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5107" y="2148840"/>
            <a:ext cx="2331720" cy="9144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107" y="237744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107" y="2743200"/>
            <a:ext cx="2331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E2430"/>
                </a:solidFill>
                <a:latin typeface="Calibri"/>
              </a:rPr>
              <a:t>요구사항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107" y="3337560"/>
            <a:ext cx="2331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Calibri"/>
              </a:rPr>
              <a:t>Import(문서·PDF 추출)
+ Deep Interview(확정)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79395" y="3095244"/>
            <a:ext cx="384048" cy="256032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1147" y="2148840"/>
            <a:ext cx="1965960" cy="2148840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1147" y="2313432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E6EFEC"/>
                </a:solidFill>
                <a:latin typeface="Calibri"/>
              </a:rPr>
              <a:t>◇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1147" y="2651760"/>
            <a:ext cx="1965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SSOT-AGENT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F4F1"/>
                </a:solidFill>
                <a:latin typeface="Calibri"/>
              </a:rPr>
              <a:t>명세 생성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19675" y="3095244"/>
            <a:ext cx="384048" cy="256032"/>
          </a:xfrm>
          <a:prstGeom prst="rightArrow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cument 16"/>
          <p:cNvSpPr/>
          <p:nvPr/>
        </p:nvSpPr>
        <p:spPr>
          <a:xfrm>
            <a:off x="5021427" y="2148840"/>
            <a:ext cx="2240280" cy="2286000"/>
          </a:xfrm>
          <a:prstGeom prst="flowChartDocument">
            <a:avLst/>
          </a:prstGeom>
          <a:solidFill>
            <a:srgbClr val="FFFFFF"/>
          </a:solidFill>
          <a:ln w="31750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1427" y="2331720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79E8A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1427" y="26974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79E8A"/>
                </a:solidFill>
                <a:latin typeface="Calibri"/>
              </a:rPr>
              <a:t>SSOT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1427" y="3383280"/>
            <a:ext cx="2240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yaml/&lt;ip&gt;.ssot.yaml
(20개 섹션 표준 명세)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4275" y="3095244"/>
            <a:ext cx="384048" cy="256032"/>
          </a:xfrm>
          <a:prstGeom prst="right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36027" y="2148840"/>
            <a:ext cx="1965960" cy="214884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6027" y="2313432"/>
            <a:ext cx="1965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E6EFEC"/>
                </a:solidFill>
                <a:latin typeface="Calibri"/>
              </a:rPr>
              <a:t>◇ 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6027" y="2651760"/>
            <a:ext cx="1965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RTL-AGENT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ECF4F1"/>
                </a:solidFill>
                <a:latin typeface="Calibri"/>
              </a:rPr>
              <a:t>RTL 생성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74555" y="3095244"/>
            <a:ext cx="384048" cy="256032"/>
          </a:xfrm>
          <a:prstGeom prst="rightArrow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cument 25"/>
          <p:cNvSpPr/>
          <p:nvPr/>
        </p:nvSpPr>
        <p:spPr>
          <a:xfrm>
            <a:off x="9776307" y="2148840"/>
            <a:ext cx="2240280" cy="2286000"/>
          </a:xfrm>
          <a:prstGeom prst="flowChartDocument">
            <a:avLst/>
          </a:prstGeom>
          <a:solidFill>
            <a:srgbClr val="FFFFFF"/>
          </a:solidFill>
          <a:ln w="317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6307" y="2331720"/>
            <a:ext cx="2240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08A1E"/>
                </a:solidFill>
                <a:latin typeface="Calibri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6307" y="26974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E08A1E"/>
                </a:solidFill>
                <a:latin typeface="Calibri"/>
              </a:rPr>
              <a:t>RTL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6307" y="3383280"/>
            <a:ext cx="2240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Calibri"/>
              </a:rPr>
              <a:t>rtl/&lt;ip&gt;.sv
(검증가능 구현)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1147" y="4343400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179E8A"/>
                </a:solidFill>
                <a:latin typeface="Calibri"/>
              </a:rPr>
              <a:t>AI가 명세를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6027" y="4343400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E08A1E"/>
                </a:solidFill>
                <a:latin typeface="Calibri"/>
              </a:rPr>
              <a:t>AI가 RTL을 생성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3776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1E3A"/>
                </a:solidFill>
                <a:latin typeface="Calibri"/>
              </a:rPr>
              <a:t>기대효과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321808"/>
            <a:ext cx="1554480" cy="457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3123" y="5486400"/>
            <a:ext cx="2724912" cy="9601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3123" y="5486400"/>
            <a:ext cx="109728" cy="96012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7443" y="5596128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79E8A"/>
                </a:solidFill>
                <a:latin typeface="Calibri"/>
              </a:rPr>
              <a:t>설계 기간 단축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443" y="5961888"/>
            <a:ext cx="2313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2430"/>
                </a:solidFill>
                <a:latin typeface="Calibri"/>
              </a:rPr>
              <a:t>명세·코드 작성을 AI 자동화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56635" y="5486400"/>
            <a:ext cx="2724912" cy="9601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56635" y="5486400"/>
            <a:ext cx="109728" cy="9601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30955" y="5596128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D6CDF"/>
                </a:solidFill>
                <a:latin typeface="Calibri"/>
              </a:rPr>
              <a:t>일관성·추적성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0955" y="5961888"/>
            <a:ext cx="2313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2430"/>
                </a:solidFill>
                <a:latin typeface="Calibri"/>
              </a:rPr>
              <a:t>SSOT 단일 명세에서 RTL 파생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0147" y="5486400"/>
            <a:ext cx="2724912" cy="9601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0147" y="5486400"/>
            <a:ext cx="109728" cy="9601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4467" y="5596128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E9E5B"/>
                </a:solidFill>
                <a:latin typeface="Calibri"/>
              </a:rPr>
              <a:t>품질 자동 검증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4467" y="5961888"/>
            <a:ext cx="2313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2430"/>
                </a:solidFill>
                <a:latin typeface="Calibri"/>
              </a:rPr>
              <a:t>단계별 게이트로 결함 조기 차단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3659" y="5486400"/>
            <a:ext cx="2724912" cy="96012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63659" y="5486400"/>
            <a:ext cx="109728" cy="9601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37979" y="5596128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8A1E"/>
                </a:solidFill>
                <a:latin typeface="Calibri"/>
              </a:rPr>
              <a:t>사람은 핵심 결정만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37979" y="5961888"/>
            <a:ext cx="2313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E2430"/>
                </a:solidFill>
                <a:latin typeface="Calibri"/>
              </a:rPr>
              <a:t>반복은 AI, 판단은 사람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