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79E8A"/>
                </a:solidFill>
                <a:latin typeface="Calibri"/>
              </a:rPr>
              <a:t>AI 반도체 IP 설계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420624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스펙 문서 → 검증된 RTL, 자동 설계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B9C6DE"/>
                </a:solidFill>
                <a:latin typeface="Calibri"/>
              </a:rPr>
              <a:t>목적: 사람이 쓰던 설계 명세·코드 작성을 AI가 자동화 — 문서 한 건에서 합성가능 RTL까지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9991" y="1783080"/>
            <a:ext cx="2606040" cy="1965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6A4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9991" y="1783080"/>
            <a:ext cx="2606040" cy="566928"/>
          </a:xfrm>
          <a:prstGeom prst="roundRect">
            <a:avLst/>
          </a:prstGeom>
          <a:solidFill>
            <a:srgbClr val="6A4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583" y="178308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0071" y="17830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159" y="249631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430"/>
                </a:solidFill>
                <a:latin typeface="Calibri"/>
              </a:rPr>
              <a:t>문서 반입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" y="2953512"/>
            <a:ext cx="22037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스펙·PDF에서 요구 추출</a:t>
            </a:r>
          </a:p>
        </p:txBody>
      </p:sp>
      <p:sp>
        <p:nvSpPr>
          <p:cNvPr id="13" name="Chevron 12"/>
          <p:cNvSpPr/>
          <p:nvPr/>
        </p:nvSpPr>
        <p:spPr>
          <a:xfrm>
            <a:off x="2977743" y="2482596"/>
            <a:ext cx="365760" cy="566928"/>
          </a:xfrm>
          <a:prstGeom prst="chevron">
            <a:avLst/>
          </a:prstGeom>
          <a:solidFill>
            <a:srgbClr val="6A4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25215" y="1783080"/>
            <a:ext cx="2606040" cy="1965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25215" y="1783080"/>
            <a:ext cx="2606040" cy="5669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9807" y="178308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5295" y="17830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DEEP INTERVIEW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6383" y="249631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430"/>
                </a:solidFill>
                <a:latin typeface="Calibri"/>
              </a:rPr>
              <a:t>요구사항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6383" y="2953512"/>
            <a:ext cx="22037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핵심 의사결정만 사람과 Q&amp;A</a:t>
            </a:r>
          </a:p>
        </p:txBody>
      </p:sp>
      <p:sp>
        <p:nvSpPr>
          <p:cNvPr id="20" name="Chevron 19"/>
          <p:cNvSpPr/>
          <p:nvPr/>
        </p:nvSpPr>
        <p:spPr>
          <a:xfrm>
            <a:off x="5912967" y="2482596"/>
            <a:ext cx="365760" cy="566928"/>
          </a:xfrm>
          <a:prstGeom prst="chevron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0439" y="1783080"/>
            <a:ext cx="2606040" cy="1965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79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0439" y="1783080"/>
            <a:ext cx="2606040" cy="566928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5031" y="178308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0519" y="17830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SSOT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1607" y="249631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430"/>
                </a:solidFill>
                <a:latin typeface="Calibri"/>
              </a:rPr>
              <a:t>단일 명세 생성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2953512"/>
            <a:ext cx="22037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AI가 표준 명세 자동 작성</a:t>
            </a:r>
          </a:p>
        </p:txBody>
      </p:sp>
      <p:sp>
        <p:nvSpPr>
          <p:cNvPr id="27" name="Chevron 26"/>
          <p:cNvSpPr/>
          <p:nvPr/>
        </p:nvSpPr>
        <p:spPr>
          <a:xfrm>
            <a:off x="8848191" y="2482596"/>
            <a:ext cx="365760" cy="566928"/>
          </a:xfrm>
          <a:prstGeom prst="chevron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95663" y="1783080"/>
            <a:ext cx="2606040" cy="196596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E0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5663" y="1783080"/>
            <a:ext cx="2606040" cy="56692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0255" y="178308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5743" y="1783080"/>
            <a:ext cx="18745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6831" y="2496312"/>
            <a:ext cx="22037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2430"/>
                </a:solidFill>
                <a:latin typeface="Calibri"/>
              </a:rPr>
              <a:t>구현 생성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96831" y="2953512"/>
            <a:ext cx="22037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Calibri"/>
              </a:rPr>
              <a:t>AI가 검증가능 RTL 자동 작성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977639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141E3A"/>
                </a:solidFill>
                <a:latin typeface="Calibri"/>
              </a:rPr>
              <a:t>기대효과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370832"/>
            <a:ext cx="1828800" cy="4572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03123" y="4572000"/>
            <a:ext cx="2724912" cy="160020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03123" y="4572000"/>
            <a:ext cx="2724912" cy="109728"/>
          </a:xfrm>
          <a:prstGeom prst="round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4291" y="484632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설계 기간 단축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291" y="53492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문서→명세→RTL을 AI가
자동 생성, 수작업 최소화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56635" y="4572000"/>
            <a:ext cx="2724912" cy="160020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56635" y="4572000"/>
            <a:ext cx="2724912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57803" y="484632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일관성·추적성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7803" y="53492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단일 명세(SSOT)에서
모든 산출물 파생 → 불일치 제거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0147" y="4572000"/>
            <a:ext cx="2724912" cy="160020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0147" y="4572000"/>
            <a:ext cx="2724912" cy="1097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11315" y="484632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2E9E5B"/>
                </a:solidFill>
                <a:latin typeface="Calibri"/>
              </a:rPr>
              <a:t>품질 자동 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1315" y="53492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단계별 자동 게이트로
결함을 조기 차단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63659" y="4572000"/>
            <a:ext cx="2724912" cy="1600200"/>
          </a:xfrm>
          <a:prstGeom prst="round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163659" y="4572000"/>
            <a:ext cx="2724912" cy="109728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4827" y="4846320"/>
            <a:ext cx="23225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사람은 핵심에 집중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4827" y="5349240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E2430"/>
                </a:solidFill>
                <a:latin typeface="Calibri"/>
              </a:rPr>
              <a:t>반복작업은 AI가,
사람은 의사결정에 집중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8A93A3"/>
                </a:solidFill>
                <a:latin typeface="Calibri"/>
              </a:rPr>
              <a:t>ATLAS · Import → Deep Interview → SSOT → RTL  |  단계별 검증 게이트 통과 후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