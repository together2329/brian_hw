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79E8A"/>
                </a:solidFill>
                <a:latin typeface="Calibri"/>
              </a:rPr>
              <a:t>END-TO-END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40233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Import → Deep Interview → SSOT → RTL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711" y="1600200"/>
            <a:ext cx="2542032" cy="36576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6A4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0303" y="1783080"/>
            <a:ext cx="502920" cy="502920"/>
          </a:xfrm>
          <a:prstGeom prst="roundRect">
            <a:avLst/>
          </a:prstGeom>
          <a:solidFill>
            <a:srgbClr val="6A4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303" y="17830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2951" y="1801368"/>
            <a:ext cx="167335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6A4CC4"/>
                </a:solidFill>
                <a:latin typeface="Calibri"/>
              </a:rPr>
              <a:t>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879" y="2468880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E2430"/>
                </a:solidFill>
                <a:latin typeface="Calibri"/>
              </a:rPr>
              <a:t>소스 문서 반입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879" y="2880360"/>
            <a:ext cx="213969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PDF·스펙·문서를 가져와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req/ 로 텍스트 추출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(import_document)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303" y="4297680"/>
            <a:ext cx="2212848" cy="41148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031" y="4315968"/>
            <a:ext cx="20848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E2430"/>
                </a:solidFill>
                <a:latin typeface="Calibri"/>
              </a:rPr>
              <a:t>IN:  스펙 문서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303" y="4754880"/>
            <a:ext cx="2212848" cy="411480"/>
          </a:xfrm>
          <a:prstGeom prst="roundRect">
            <a:avLst/>
          </a:prstGeom>
          <a:solidFill>
            <a:srgbClr val="6A4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031" y="4773168"/>
            <a:ext cx="20848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OUT: req/ 추출물</a:t>
            </a:r>
          </a:p>
        </p:txBody>
      </p:sp>
      <p:sp>
        <p:nvSpPr>
          <p:cNvPr id="16" name="Chevron 15"/>
          <p:cNvSpPr/>
          <p:nvPr/>
        </p:nvSpPr>
        <p:spPr>
          <a:xfrm>
            <a:off x="2977743" y="3108960"/>
            <a:ext cx="411480" cy="64008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61791" y="1600200"/>
            <a:ext cx="2542032" cy="36576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6383" y="1783080"/>
            <a:ext cx="502920" cy="50292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6383" y="17830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9031" y="1801368"/>
            <a:ext cx="167335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2D6CDF"/>
                </a:solidFill>
                <a:latin typeface="Calibri"/>
              </a:rPr>
              <a:t>DEEP INTERVIEW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2959" y="2468880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E2430"/>
                </a:solidFill>
                <a:latin typeface="Calibri"/>
              </a:rPr>
              <a:t>요구사항 정제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2959" y="2880360"/>
            <a:ext cx="213969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모호점을 사람과 Q&amp;A로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확정 — 아키텍처 결정·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요구 elicitation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6383" y="4297680"/>
            <a:ext cx="2212848" cy="41148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6111" y="4315968"/>
            <a:ext cx="20848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E2430"/>
                </a:solidFill>
                <a:latin typeface="Calibri"/>
              </a:rPr>
              <a:t>IN:  추출물 + 질문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6383" y="4754880"/>
            <a:ext cx="2212848" cy="41148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6111" y="4773168"/>
            <a:ext cx="20848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OUT: 확정 요구사항</a:t>
            </a:r>
          </a:p>
        </p:txBody>
      </p:sp>
      <p:sp>
        <p:nvSpPr>
          <p:cNvPr id="27" name="Chevron 26"/>
          <p:cNvSpPr/>
          <p:nvPr/>
        </p:nvSpPr>
        <p:spPr>
          <a:xfrm>
            <a:off x="5903823" y="3108960"/>
            <a:ext cx="411480" cy="64008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7871" y="1600200"/>
            <a:ext cx="2542032" cy="36576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9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52463" y="1783080"/>
            <a:ext cx="502920" cy="502920"/>
          </a:xfrm>
          <a:prstGeom prst="round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2463" y="17830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5111" y="1801368"/>
            <a:ext cx="167335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79E8A"/>
                </a:solidFill>
                <a:latin typeface="Calibri"/>
              </a:rPr>
              <a:t>SSOT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9039" y="2468880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E2430"/>
                </a:solidFill>
                <a:latin typeface="Calibri"/>
              </a:rPr>
              <a:t>단일 명세 생성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9039" y="2880360"/>
            <a:ext cx="213969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ssot-gen(LLM)이 명세 작성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yaml/&lt;ip&gt;.ssot.yaml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(20개 섹션)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52463" y="4297680"/>
            <a:ext cx="2212848" cy="41148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2191" y="4315968"/>
            <a:ext cx="20848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E2430"/>
                </a:solidFill>
                <a:latin typeface="Calibri"/>
              </a:rPr>
              <a:t>IN:  확정 요구사항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52463" y="4754880"/>
            <a:ext cx="2212848" cy="411480"/>
          </a:xfrm>
          <a:prstGeom prst="round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2191" y="4773168"/>
            <a:ext cx="20848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OUT: ssot.yaml ✓</a:t>
            </a:r>
          </a:p>
        </p:txBody>
      </p:sp>
      <p:sp>
        <p:nvSpPr>
          <p:cNvPr id="38" name="Chevron 37"/>
          <p:cNvSpPr/>
          <p:nvPr/>
        </p:nvSpPr>
        <p:spPr>
          <a:xfrm>
            <a:off x="8829903" y="3108960"/>
            <a:ext cx="411480" cy="64008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213951" y="1600200"/>
            <a:ext cx="2542032" cy="36576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78543" y="1783080"/>
            <a:ext cx="502920" cy="502920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78543" y="17830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1191" y="1801368"/>
            <a:ext cx="167335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E08A1E"/>
                </a:solidFill>
                <a:latin typeface="Calibri"/>
              </a:rPr>
              <a:t>RTL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5119" y="2468880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E2430"/>
                </a:solidFill>
                <a:latin typeface="Calibri"/>
              </a:rPr>
              <a:t>구현 생성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5119" y="2880360"/>
            <a:ext cx="213969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rtl-gen(LLM)이 SV 작성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rtl/&lt;ip&gt;.sv + list/&lt;ip&gt;.f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compile + gate 검증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78543" y="4297680"/>
            <a:ext cx="2212848" cy="41148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88271" y="4315968"/>
            <a:ext cx="20848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E2430"/>
                </a:solidFill>
                <a:latin typeface="Calibri"/>
              </a:rPr>
              <a:t>IN:  ssot.yaml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78543" y="4754880"/>
            <a:ext cx="2212848" cy="411480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88271" y="4773168"/>
            <a:ext cx="20848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OUT: &lt;ip&gt;.sv 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5711" y="5532120"/>
            <a:ext cx="11320272" cy="96012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35711" y="5532120"/>
            <a:ext cx="128016" cy="960120"/>
          </a:xfrm>
          <a:prstGeom prst="roundRect">
            <a:avLst/>
          </a:prstGeom>
          <a:solidFill>
            <a:srgbClr val="16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751" y="5650992"/>
            <a:ext cx="1077163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6213D"/>
                </a:solidFill>
                <a:latin typeface="Calibri"/>
              </a:rPr>
              <a:t>조율 엔진: Orchestrator가 각 단계를 worker에 dispatch → yield_run으로 대기 → 완료 시 깨어나 다음 단계.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각 단계는 게이트 통과(passed) 후 다음으로 진행. 상태는 pipeline state(idle/running/passed/failed)로 가시화.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