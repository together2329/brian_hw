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64008" cy="777240"/>
          </a:xfrm>
          <a:prstGeom prst="rect">
            <a:avLst/>
          </a:prstGeom>
          <a:solidFill>
            <a:srgbClr val="35C4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6B7995"/>
                </a:solidFill>
                <a:latin typeface="Calibri"/>
              </a:rPr>
              <a:t>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48056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SSOT · RTL Generator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86968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>
                <a:solidFill>
                  <a:srgbClr val="9AAAC6"/>
                </a:solidFill>
                <a:latin typeface="Calibri"/>
              </a:rPr>
              <a:t>An AI agent that turns existing DB knowledge and Q&amp;A into a standardized spec (SSOT), then generates synthesizable RTL.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280160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35C4AE"/>
                </a:solidFill>
                <a:latin typeface="Calibri"/>
              </a:rPr>
              <a:t>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243687" y="1554480"/>
            <a:ext cx="2377440" cy="1280160"/>
          </a:xfrm>
          <a:prstGeom prst="rect">
            <a:avLst/>
          </a:prstGeom>
          <a:solidFill>
            <a:srgbClr val="121A2C"/>
          </a:solidFill>
          <a:ln w="19050">
            <a:solidFill>
              <a:srgbClr val="2B38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3687" y="1554480"/>
            <a:ext cx="2377440" cy="64008"/>
          </a:xfrm>
          <a:prstGeom prst="rect">
            <a:avLst/>
          </a:prstGeom>
          <a:solidFill>
            <a:srgbClr val="9B8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3687" y="1664207"/>
            <a:ext cx="2377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9B8CF0"/>
                </a:solidFill>
                <a:latin typeface="Calibri"/>
              </a:rPr>
              <a:t>INPUT</a:t>
            </a:r>
          </a:p>
          <a:p>
            <a:pPr algn="ctr">
              <a:spcAft>
                <a:spcPts val="1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67" y="2331720"/>
            <a:ext cx="20482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9AAAC6"/>
                </a:solidFill>
                <a:latin typeface="Calibri"/>
              </a:rPr>
              <a:t>▸ AtlasDB (existing DB)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9AAAC6"/>
                </a:solidFill>
                <a:latin typeface="Calibri"/>
              </a:rPr>
              <a:t>▸ Deep Interview (Q&amp;A)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11983" y="2112264"/>
            <a:ext cx="237744" cy="164592"/>
          </a:xfrm>
          <a:prstGeom prst="rightArrow">
            <a:avLst/>
          </a:prstGeom>
          <a:solidFill>
            <a:srgbClr val="6B7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04007" y="1554480"/>
            <a:ext cx="2103120" cy="1280160"/>
          </a:xfrm>
          <a:prstGeom prst="roundRect">
            <a:avLst/>
          </a:prstGeom>
          <a:solidFill>
            <a:srgbClr val="35C4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4007" y="1645920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b="1">
                <a:solidFill>
                  <a:srgbClr val="0D1422"/>
                </a:solidFill>
                <a:latin typeface="Calibri"/>
              </a:rPr>
              <a:t>◇ AI AGENT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D1422"/>
                </a:solidFill>
                <a:latin typeface="Calibri"/>
              </a:rPr>
              <a:t>SSOT-AGENT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0D1422"/>
                </a:solidFill>
                <a:latin typeface="Calibri"/>
              </a:rPr>
              <a:t>spec 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6887" y="2340864"/>
            <a:ext cx="177393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0D1422"/>
                </a:solidFill>
                <a:latin typeface="Calibri"/>
              </a:rPr>
              <a:t>▸ ssot-gen (LLM)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0D1422"/>
                </a:solidFill>
                <a:latin typeface="Calibri"/>
              </a:rPr>
              <a:t>▸ verify_ssot.py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97983" y="2112264"/>
            <a:ext cx="237744" cy="164592"/>
          </a:xfrm>
          <a:prstGeom prst="rightArrow">
            <a:avLst/>
          </a:prstGeom>
          <a:solidFill>
            <a:srgbClr val="35C4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ument 16"/>
          <p:cNvSpPr/>
          <p:nvPr/>
        </p:nvSpPr>
        <p:spPr>
          <a:xfrm>
            <a:off x="5090007" y="1554480"/>
            <a:ext cx="2194560" cy="1353312"/>
          </a:xfrm>
          <a:prstGeom prst="flowChartDocument">
            <a:avLst/>
          </a:prstGeom>
          <a:solidFill>
            <a:srgbClr val="182136"/>
          </a:solidFill>
          <a:ln w="25400">
            <a:solidFill>
              <a:srgbClr val="35C4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0007" y="1664207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35C4AE"/>
                </a:solidFill>
                <a:latin typeface="Calibri"/>
              </a:rPr>
              <a:t>OUTPUT</a:t>
            </a:r>
          </a:p>
          <a:p>
            <a:pPr algn="ctr">
              <a:spcAft>
                <a:spcPts val="100"/>
              </a:spcAft>
            </a:pPr>
            <a:r>
              <a:rPr sz="1500" b="1">
                <a:solidFill>
                  <a:srgbClr val="35C4AE"/>
                </a:solidFill>
                <a:latin typeface="Calibri"/>
              </a:rPr>
              <a:t>SSOT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2887" y="2331720"/>
            <a:ext cx="18653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9AAAC6"/>
                </a:solidFill>
                <a:latin typeface="Calibri"/>
              </a:rPr>
              <a:t>▸ &lt;ip&gt;.ssot.yaml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9AAAC6"/>
                </a:solidFill>
                <a:latin typeface="Calibri"/>
              </a:rPr>
              <a:t>▸ 20-section spec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275423" y="2112264"/>
            <a:ext cx="237744" cy="164592"/>
          </a:xfrm>
          <a:prstGeom prst="rightArrow">
            <a:avLst/>
          </a:prstGeom>
          <a:solidFill>
            <a:srgbClr val="6B7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67447" y="1554480"/>
            <a:ext cx="2103120" cy="1280160"/>
          </a:xfrm>
          <a:prstGeom prst="roundRect">
            <a:avLst/>
          </a:prstGeom>
          <a:solidFill>
            <a:srgbClr val="EA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67447" y="1645920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b="1">
                <a:solidFill>
                  <a:srgbClr val="0D1422"/>
                </a:solidFill>
                <a:latin typeface="Calibri"/>
              </a:rPr>
              <a:t>◇ AI AGENT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D1422"/>
                </a:solidFill>
                <a:latin typeface="Calibri"/>
              </a:rPr>
              <a:t>RTL-AGENT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0D1422"/>
                </a:solidFill>
                <a:latin typeface="Calibri"/>
              </a:rPr>
              <a:t>RTL 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327" y="2340864"/>
            <a:ext cx="177393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0D1422"/>
                </a:solidFill>
                <a:latin typeface="Calibri"/>
              </a:rPr>
              <a:t>▸ ssot_to_rtl.py (LLM)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0D1422"/>
                </a:solidFill>
                <a:latin typeface="Calibri"/>
              </a:rPr>
              <a:t>▸ build_gate.sh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561423" y="2112264"/>
            <a:ext cx="237744" cy="164592"/>
          </a:xfrm>
          <a:prstGeom prst="rightArrow">
            <a:avLst/>
          </a:prstGeom>
          <a:solidFill>
            <a:srgbClr val="EA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cument 24"/>
          <p:cNvSpPr/>
          <p:nvPr/>
        </p:nvSpPr>
        <p:spPr>
          <a:xfrm>
            <a:off x="9753447" y="1554480"/>
            <a:ext cx="2194560" cy="1353312"/>
          </a:xfrm>
          <a:prstGeom prst="flowChartDocument">
            <a:avLst/>
          </a:prstGeom>
          <a:solidFill>
            <a:srgbClr val="182136"/>
          </a:solidFill>
          <a:ln w="25400">
            <a:solidFill>
              <a:srgbClr val="EA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53447" y="1664207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b="1">
                <a:solidFill>
                  <a:srgbClr val="EAA83A"/>
                </a:solidFill>
                <a:latin typeface="Calibri"/>
              </a:rPr>
              <a:t>OUTPUT</a:t>
            </a:r>
          </a:p>
          <a:p>
            <a:pPr algn="ctr">
              <a:spcAft>
                <a:spcPts val="100"/>
              </a:spcAft>
            </a:pPr>
            <a:r>
              <a:rPr sz="1500" b="1">
                <a:solidFill>
                  <a:srgbClr val="EAA83A"/>
                </a:solidFill>
                <a:latin typeface="Calibri"/>
              </a:rPr>
              <a:t>RTL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6327" y="2331720"/>
            <a:ext cx="18653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9AAAC6"/>
                </a:solidFill>
                <a:latin typeface="Calibri"/>
              </a:rPr>
              <a:t>▸ &lt;ip&gt;.sv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9AAAC6"/>
                </a:solidFill>
                <a:latin typeface="Calibri"/>
              </a:rPr>
              <a:t>▸ compile + gate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3035808"/>
            <a:ext cx="12191695" cy="9144"/>
          </a:xfrm>
          <a:prstGeom prst="rect">
            <a:avLst/>
          </a:prstGeom>
          <a:solidFill>
            <a:srgbClr val="2B3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108960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AA83A"/>
                </a:solidFill>
                <a:latin typeface="Calibri"/>
              </a:rPr>
              <a:t>AGENT LOOPS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64992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9AAAC6"/>
                </a:solidFill>
                <a:latin typeface="Calibri"/>
              </a:rPr>
              <a:t>Orchestrator:  read_pipeline_state  →  dispatch_workflow  →  yield_run  ↻ wake on job/user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362102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9AAAC6"/>
                </a:solidFill>
                <a:latin typeface="Calibri"/>
              </a:rPr>
              <a:t>Worker (ReAct):  Observe  →  Reason (LLM)  →  Act  ↻ until done  →  emit +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877056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6B7995"/>
                </a:solidFill>
                <a:latin typeface="Calibri"/>
              </a:rPr>
              <a:t>tools — orch: read_pipeline_state · dispatch_workflow · ask_user      worker: read_file · replace_in_file · run_command · todo_write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4224528"/>
            <a:ext cx="12191695" cy="9144"/>
          </a:xfrm>
          <a:prstGeom prst="rect">
            <a:avLst/>
          </a:prstGeom>
          <a:solidFill>
            <a:srgbClr val="2B3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4297680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5A97F5"/>
                </a:solidFill>
                <a:latin typeface="Calibri"/>
              </a:rPr>
              <a:t>TODO WORKFLOW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4572000"/>
            <a:ext cx="2057400" cy="502920"/>
          </a:xfrm>
          <a:prstGeom prst="roundRect">
            <a:avLst/>
          </a:prstGeom>
          <a:solidFill>
            <a:srgbClr val="182136"/>
          </a:solidFill>
          <a:ln w="22225">
            <a:solidFill>
              <a:srgbClr val="6B79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4572000"/>
            <a:ext cx="2057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6B7995"/>
                </a:solidFill>
                <a:latin typeface="Calibri"/>
              </a:rPr>
              <a:t>PENDING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2971800" y="4750308"/>
            <a:ext cx="292607" cy="146304"/>
          </a:xfrm>
          <a:prstGeom prst="rightArrow">
            <a:avLst/>
          </a:prstGeom>
          <a:solidFill>
            <a:srgbClr val="6B7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310128" y="4572000"/>
            <a:ext cx="2057400" cy="502920"/>
          </a:xfrm>
          <a:prstGeom prst="roundRect">
            <a:avLst/>
          </a:prstGeom>
          <a:solidFill>
            <a:srgbClr val="182136"/>
          </a:solidFill>
          <a:ln w="22225">
            <a:solidFill>
              <a:srgbClr val="EAA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10128" y="4572000"/>
            <a:ext cx="2057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EAA83A"/>
                </a:solidFill>
                <a:latin typeface="Calibri"/>
              </a:rPr>
              <a:t>IN_PROGRESS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5413248" y="4750308"/>
            <a:ext cx="292607" cy="146304"/>
          </a:xfrm>
          <a:prstGeom prst="rightArrow">
            <a:avLst/>
          </a:prstGeom>
          <a:solidFill>
            <a:srgbClr val="EA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751576" y="4572000"/>
            <a:ext cx="2057400" cy="502920"/>
          </a:xfrm>
          <a:prstGeom prst="roundRect">
            <a:avLst/>
          </a:prstGeom>
          <a:solidFill>
            <a:srgbClr val="182136"/>
          </a:solidFill>
          <a:ln w="22225">
            <a:solidFill>
              <a:srgbClr val="5A9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51576" y="4572000"/>
            <a:ext cx="2057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5A97F5"/>
                </a:solidFill>
                <a:latin typeface="Calibri"/>
              </a:rPr>
              <a:t>COMPLETED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7854696" y="4750308"/>
            <a:ext cx="292607" cy="146304"/>
          </a:xfrm>
          <a:prstGeom prst="rightArrow">
            <a:avLst/>
          </a:prstGeom>
          <a:solidFill>
            <a:srgbClr val="5A9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193024" y="4572000"/>
            <a:ext cx="2057400" cy="502920"/>
          </a:xfrm>
          <a:prstGeom prst="roundRect">
            <a:avLst/>
          </a:prstGeom>
          <a:solidFill>
            <a:srgbClr val="182136"/>
          </a:solidFill>
          <a:ln w="22225">
            <a:solidFill>
              <a:srgbClr val="4FC2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93024" y="4572000"/>
            <a:ext cx="2057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4FC284"/>
                </a:solidFill>
                <a:latin typeface="Calibri"/>
              </a:rPr>
              <a:t>APPROVED 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80192" y="457200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D95A4F"/>
                </a:solidFill>
                <a:latin typeface="Calibri"/>
              </a:rPr>
              <a:t>↩ rejected · ⏸ blocked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7995"/>
                </a:solidFill>
                <a:latin typeface="Calibri"/>
              </a:rPr>
              <a:t>→ todo_events ledger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138928"/>
            <a:ext cx="114300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6B7995"/>
                </a:solidFill>
                <a:latin typeface="Calibri"/>
              </a:rPr>
              <a:t>derived from SSOT (golden todos) &amp; RTL gaps (derive_rtl_todos.py) · stored in workflow_todos + todo.json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5468112"/>
            <a:ext cx="12191695" cy="9144"/>
          </a:xfrm>
          <a:prstGeom prst="rect">
            <a:avLst/>
          </a:prstGeom>
          <a:solidFill>
            <a:srgbClr val="2B3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3232" y="5522976"/>
            <a:ext cx="10972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9AAAC6"/>
                </a:solidFill>
                <a:latin typeface="Calibri"/>
              </a:rPr>
              <a:t>EXPECTED IMPACT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03123" y="5806440"/>
            <a:ext cx="2724912" cy="7772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2B38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03123" y="5806440"/>
            <a:ext cx="82296" cy="777240"/>
          </a:xfrm>
          <a:prstGeom prst="rect">
            <a:avLst/>
          </a:prstGeom>
          <a:solidFill>
            <a:srgbClr val="35C4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0867" y="5897879"/>
            <a:ext cx="23591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35C4AE"/>
                </a:solidFill>
                <a:latin typeface="Calibri"/>
              </a:rPr>
              <a:t>Design productivity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0867" y="6190488"/>
            <a:ext cx="23408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9AAAC6"/>
                </a:solidFill>
                <a:latin typeface="Calibri"/>
              </a:rPr>
              <a:t>spec &amp; RTL authoring automated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56635" y="5806440"/>
            <a:ext cx="2724912" cy="7772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2B38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256635" y="5806440"/>
            <a:ext cx="82296" cy="777240"/>
          </a:xfrm>
          <a:prstGeom prst="rect">
            <a:avLst/>
          </a:prstGeom>
          <a:solidFill>
            <a:srgbClr val="5A9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94379" y="5897879"/>
            <a:ext cx="23591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5A97F5"/>
                </a:solidFill>
                <a:latin typeface="Calibri"/>
              </a:rPr>
              <a:t>Standardization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94379" y="6190488"/>
            <a:ext cx="23408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9AAAC6"/>
                </a:solidFill>
                <a:latin typeface="Calibri"/>
              </a:rPr>
              <a:t>one SSOT → consistent IP, reuse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10147" y="5806440"/>
            <a:ext cx="2724912" cy="7772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2B38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10147" y="5806440"/>
            <a:ext cx="82296" cy="777240"/>
          </a:xfrm>
          <a:prstGeom prst="rect">
            <a:avLst/>
          </a:prstGeom>
          <a:solidFill>
            <a:srgbClr val="4F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7891" y="5897879"/>
            <a:ext cx="23591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4FC284"/>
                </a:solidFill>
                <a:latin typeface="Calibri"/>
              </a:rPr>
              <a:t>Traceability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7891" y="6190488"/>
            <a:ext cx="23408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9AAAC6"/>
                </a:solidFill>
                <a:latin typeface="Calibri"/>
              </a:rPr>
              <a:t>spec→RTL + gates catch defects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163659" y="5806440"/>
            <a:ext cx="2724912" cy="777240"/>
          </a:xfrm>
          <a:prstGeom prst="roundRect">
            <a:avLst/>
          </a:prstGeom>
          <a:solidFill>
            <a:srgbClr val="182136"/>
          </a:solidFill>
          <a:ln w="12700">
            <a:solidFill>
              <a:srgbClr val="2B38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63659" y="5806440"/>
            <a:ext cx="82296" cy="777240"/>
          </a:xfrm>
          <a:prstGeom prst="rect">
            <a:avLst/>
          </a:prstGeom>
          <a:solidFill>
            <a:srgbClr val="EA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401403" y="5897879"/>
            <a:ext cx="23591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AA83A"/>
                </a:solidFill>
                <a:latin typeface="Calibri"/>
              </a:rPr>
              <a:t>Knowledge asset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01403" y="6190488"/>
            <a:ext cx="23408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9AAAC6"/>
                </a:solidFill>
                <a:latin typeface="Calibri"/>
              </a:rPr>
              <a:t>DB &amp; Q&amp;A captured as formal spec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