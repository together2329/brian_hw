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64008" cy="960120"/>
          </a:xfrm>
          <a:prstGeom prst="rect">
            <a:avLst/>
          </a:prstGeom>
          <a:solidFill>
            <a:srgbClr val="35C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6B7995"/>
                </a:solidFill>
                <a:latin typeface="Calibri"/>
              </a:rPr>
              <a:t>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2179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SSOT · RTL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33856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AC6"/>
                </a:solidFill>
                <a:latin typeface="Calibri"/>
              </a:rPr>
              <a:t>An AI agent that turns existing DB knowledge and Q&amp;A into a standardized spec (SSOT),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AC6"/>
                </a:solidFill>
                <a:latin typeface="Calibri"/>
              </a:rPr>
              <a:t>then automatically generates synthesizable RTL from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810512"/>
            <a:ext cx="12191695" cy="10972"/>
          </a:xfrm>
          <a:prstGeom prst="rect">
            <a:avLst/>
          </a:prstGeom>
          <a:solidFill>
            <a:srgbClr val="2B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65376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6B7995"/>
                </a:solidFill>
                <a:latin typeface="Calibri"/>
              </a:rPr>
              <a:t>■ AGENT  AI-executed      ▢ OUTPUT  artifact      ▸ key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391" y="2240280"/>
            <a:ext cx="2395728" cy="2331720"/>
          </a:xfrm>
          <a:prstGeom prst="rect">
            <a:avLst/>
          </a:prstGeom>
          <a:solidFill>
            <a:srgbClr val="121A2C"/>
          </a:solidFill>
          <a:ln w="19050">
            <a:solidFill>
              <a:srgbClr val="2B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391" y="2240280"/>
            <a:ext cx="2395728" cy="73152"/>
          </a:xfrm>
          <a:prstGeom prst="rect">
            <a:avLst/>
          </a:prstGeom>
          <a:solidFill>
            <a:srgbClr val="9B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391" y="2423160"/>
            <a:ext cx="23957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9B8CF0"/>
                </a:solidFill>
                <a:latin typeface="Calibr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391" y="2715768"/>
            <a:ext cx="23957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423" y="3429000"/>
            <a:ext cx="1883664" cy="10972"/>
          </a:xfrm>
          <a:prstGeom prst="rect">
            <a:avLst/>
          </a:prstGeom>
          <a:solidFill>
            <a:srgbClr val="2B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" y="3520440"/>
            <a:ext cx="20299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AtlasDB (existing DB)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import_document (PDF→req)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Deep Interview (Q&amp;A)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47975" y="3314700"/>
            <a:ext cx="274320" cy="182880"/>
          </a:xfrm>
          <a:prstGeom prst="rightArrow">
            <a:avLst/>
          </a:prstGeom>
          <a:solidFill>
            <a:srgbClr val="6B7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8287" y="2240280"/>
            <a:ext cx="2121408" cy="2331720"/>
          </a:xfrm>
          <a:prstGeom prst="roundRect">
            <a:avLst/>
          </a:prstGeom>
          <a:solidFill>
            <a:srgbClr val="35C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8287" y="2386584"/>
            <a:ext cx="2121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D1422"/>
                </a:solidFill>
                <a:latin typeface="Calibri"/>
              </a:rPr>
              <a:t>◇ 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287" y="2679192"/>
            <a:ext cx="212140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1422"/>
                </a:solidFill>
                <a:latin typeface="Calibri"/>
              </a:rPr>
              <a:t>SSOT-AGENT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D1422"/>
                </a:solidFill>
                <a:latin typeface="Calibri"/>
              </a:rPr>
              <a:t>spec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4319" y="3538728"/>
            <a:ext cx="1609343" cy="12801"/>
          </a:xfrm>
          <a:prstGeom prst="rect">
            <a:avLst/>
          </a:prstGeom>
          <a:solidFill>
            <a:srgbClr val="0D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59455" y="3611880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0D1422"/>
                </a:solidFill>
                <a:latin typeface="Calibri"/>
              </a:rPr>
              <a:t>▸ ssot-gen worker (LLM)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D1422"/>
                </a:solidFill>
                <a:latin typeface="Calibri"/>
              </a:rPr>
              <a:t>▸ verify_ssot.py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D1422"/>
                </a:solidFill>
                <a:latin typeface="Calibri"/>
              </a:rPr>
              <a:t>▸ check_ssot_disk.sh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70551" y="3314700"/>
            <a:ext cx="274320" cy="182880"/>
          </a:xfrm>
          <a:prstGeom prst="rightArrow">
            <a:avLst/>
          </a:prstGeom>
          <a:solidFill>
            <a:srgbClr val="35C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cument 22"/>
          <p:cNvSpPr/>
          <p:nvPr/>
        </p:nvSpPr>
        <p:spPr>
          <a:xfrm>
            <a:off x="5080863" y="2240280"/>
            <a:ext cx="2212848" cy="2423160"/>
          </a:xfrm>
          <a:prstGeom prst="flowChartDocument">
            <a:avLst/>
          </a:prstGeom>
          <a:solidFill>
            <a:srgbClr val="182136"/>
          </a:solidFill>
          <a:ln w="28575">
            <a:solidFill>
              <a:srgbClr val="35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0863" y="2404872"/>
            <a:ext cx="22128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35C4AE"/>
                </a:solidFill>
                <a:latin typeface="Calibri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863" y="269748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35C4AE"/>
                </a:solidFill>
                <a:latin typeface="Calibri"/>
              </a:rPr>
              <a:t>SSOT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6895" y="3429000"/>
            <a:ext cx="1700784" cy="10972"/>
          </a:xfrm>
          <a:prstGeom prst="rect">
            <a:avLst/>
          </a:prstGeom>
          <a:solidFill>
            <a:srgbClr val="2B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2031" y="3520440"/>
            <a:ext cx="18470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&lt;ip&gt;.ssot.yaml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standard spec, 20 sections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io / function_model ...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284567" y="3314700"/>
            <a:ext cx="274320" cy="182880"/>
          </a:xfrm>
          <a:prstGeom prst="rightArrow">
            <a:avLst/>
          </a:prstGeom>
          <a:solidFill>
            <a:srgbClr val="6B7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4879" y="2240280"/>
            <a:ext cx="2121408" cy="2331720"/>
          </a:xfrm>
          <a:prstGeom prst="roundRect">
            <a:avLst/>
          </a:prstGeom>
          <a:solidFill>
            <a:srgbClr val="E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4879" y="2386584"/>
            <a:ext cx="2121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D1422"/>
                </a:solidFill>
                <a:latin typeface="Calibri"/>
              </a:rPr>
              <a:t>◇ AI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4879" y="2679192"/>
            <a:ext cx="212140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D1422"/>
                </a:solidFill>
                <a:latin typeface="Calibri"/>
              </a:rPr>
              <a:t>RTL-AGENT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D1422"/>
                </a:solidFill>
                <a:latin typeface="Calibri"/>
              </a:rPr>
              <a:t>RTL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0911" y="3538728"/>
            <a:ext cx="1609343" cy="12801"/>
          </a:xfrm>
          <a:prstGeom prst="rect">
            <a:avLst/>
          </a:prstGeom>
          <a:solidFill>
            <a:srgbClr val="0D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6047" y="3611880"/>
            <a:ext cx="175564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0D1422"/>
                </a:solidFill>
                <a:latin typeface="Calibri"/>
              </a:rPr>
              <a:t>▸ ssot_to_rtl.py (LLM)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D1422"/>
                </a:solidFill>
                <a:latin typeface="Calibri"/>
              </a:rPr>
              <a:t>▸ rtl_compile_report.py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0D1422"/>
                </a:solidFill>
                <a:latin typeface="Calibri"/>
              </a:rPr>
              <a:t>▸ build_gate.sh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7143" y="3314700"/>
            <a:ext cx="274320" cy="182880"/>
          </a:xfrm>
          <a:prstGeom prst="rightArrow">
            <a:avLst/>
          </a:prstGeom>
          <a:solidFill>
            <a:srgbClr val="E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cument 34"/>
          <p:cNvSpPr/>
          <p:nvPr/>
        </p:nvSpPr>
        <p:spPr>
          <a:xfrm>
            <a:off x="9817455" y="2240280"/>
            <a:ext cx="2212848" cy="2423160"/>
          </a:xfrm>
          <a:prstGeom prst="flowChartDocument">
            <a:avLst/>
          </a:prstGeom>
          <a:solidFill>
            <a:srgbClr val="182136"/>
          </a:solidFill>
          <a:ln w="28575">
            <a:solidFill>
              <a:srgbClr val="EA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7455" y="2404872"/>
            <a:ext cx="22128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EAA83A"/>
                </a:solidFill>
                <a:latin typeface="Calibri"/>
              </a:rPr>
              <a:t>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7455" y="2697480"/>
            <a:ext cx="221284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EAA83A"/>
                </a:solidFill>
                <a:latin typeface="Calibri"/>
              </a:rPr>
              <a:t>RTL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73487" y="3429000"/>
            <a:ext cx="1700784" cy="10972"/>
          </a:xfrm>
          <a:prstGeom prst="rect">
            <a:avLst/>
          </a:prstGeom>
          <a:solidFill>
            <a:srgbClr val="2B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8623" y="3520440"/>
            <a:ext cx="184708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&lt;ip&gt;.sv (implementation)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list/&lt;ip&gt;.f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9AAAC6"/>
                </a:solidFill>
                <a:latin typeface="Calibri"/>
              </a:rPr>
              <a:t>▸ rtl_compile.json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828032"/>
            <a:ext cx="12191695" cy="10972"/>
          </a:xfrm>
          <a:prstGeom prst="rect">
            <a:avLst/>
          </a:prstGeom>
          <a:solidFill>
            <a:srgbClr val="2B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901184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9AAAC6"/>
                </a:solidFill>
                <a:latin typeface="Calibri"/>
              </a:rPr>
              <a:t>EXPECTED IMPACT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3123" y="5285232"/>
            <a:ext cx="2724912" cy="128016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B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3123" y="5285232"/>
            <a:ext cx="91440" cy="1280160"/>
          </a:xfrm>
          <a:prstGeom prst="rect">
            <a:avLst/>
          </a:prstGeom>
          <a:solidFill>
            <a:srgbClr val="35C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443" y="543153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5C4AE"/>
                </a:solidFill>
                <a:latin typeface="Calibri"/>
              </a:rPr>
              <a:t>Design productivity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443" y="5815584"/>
            <a:ext cx="22677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AAC6"/>
                </a:solidFill>
                <a:latin typeface="Calibri"/>
              </a:rPr>
              <a:t>Automates spec &amp; RTL authoring,
cutting repetitive engineering 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56635" y="5285232"/>
            <a:ext cx="2724912" cy="128016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B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56635" y="5285232"/>
            <a:ext cx="91440" cy="1280160"/>
          </a:xfrm>
          <a:prstGeom prst="rect">
            <a:avLst/>
          </a:prstGeom>
          <a:solidFill>
            <a:srgbClr val="5A9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30955" y="543153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5A97F5"/>
                </a:solidFill>
                <a:latin typeface="Calibri"/>
              </a:rPr>
              <a:t>Standardization &amp; reuse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30955" y="5815584"/>
            <a:ext cx="22677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AAC6"/>
                </a:solidFill>
                <a:latin typeface="Calibri"/>
              </a:rPr>
              <a:t>One standard SSOT (20 sections) per IP
— less quality variance, more reuse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0147" y="5285232"/>
            <a:ext cx="2724912" cy="128016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B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0147" y="5285232"/>
            <a:ext cx="91440" cy="1280160"/>
          </a:xfrm>
          <a:prstGeom prst="rect">
            <a:avLst/>
          </a:prstGeom>
          <a:solidFill>
            <a:srgbClr val="4FC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84467" y="543153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FC284"/>
                </a:solidFill>
                <a:latin typeface="Calibri"/>
              </a:rPr>
              <a:t>Traceability &amp; auto-checks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4467" y="5815584"/>
            <a:ext cx="22677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AAC6"/>
                </a:solidFill>
                <a:latin typeface="Calibri"/>
              </a:rPr>
              <a:t>RTL derived from spec + stage gates
catch defects early; fully auditable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63659" y="5285232"/>
            <a:ext cx="2724912" cy="128016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2B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63659" y="5285232"/>
            <a:ext cx="91440" cy="1280160"/>
          </a:xfrm>
          <a:prstGeom prst="rect">
            <a:avLst/>
          </a:prstGeom>
          <a:solidFill>
            <a:srgbClr val="E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37979" y="5431536"/>
            <a:ext cx="23134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AA83A"/>
                </a:solidFill>
                <a:latin typeface="Calibri"/>
              </a:rPr>
              <a:t>Knowledge as an asset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37979" y="5815584"/>
            <a:ext cx="22677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AAAC6"/>
                </a:solidFill>
                <a:latin typeface="Calibri"/>
              </a:rPr>
              <a:t>Captures DB &amp; Q&amp;A as a formal spec —
design knowledge becomes reusable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